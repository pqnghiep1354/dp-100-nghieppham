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2" y="1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864"/>
                </a:solidFill>
                <a:latin typeface="Arial"/>
              </a:rPr>
              <a:t>Accuracy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9A-48F4-9B86-1D747D113644}"/>
              </c:ext>
            </c:extLst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9A-48F4-9B86-1D747D113644}"/>
              </c:ext>
            </c:extLst>
          </c:dPt>
          <c:dPt>
            <c:idx val="2"/>
            <c:invertIfNegative val="0"/>
            <c:bubble3D val="0"/>
            <c:spPr>
              <a:solidFill>
                <a:srgbClr val="0098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9A-48F4-9B86-1D747D1136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M1 AutoML (LightGBM)</c:v>
                </c:pt>
                <c:pt idx="1">
                  <c:v>M2/M3 LR (best)</c:v>
                </c:pt>
                <c:pt idx="2">
                  <c:v>M4 Sweep best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0.92800000000000005</c:v>
                </c:pt>
                <c:pt idx="1">
                  <c:v>0.88670000000000004</c:v>
                </c:pt>
                <c:pt idx="2">
                  <c:v>0.88670000000000004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9A-48F4-9B86-1D747D1136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0392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0392B"/>
                </a:solidFill>
                <a:latin typeface="Arial"/>
              </a:rPr>
              <a:t>Recall Comparison (Critical for Healthcare)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5E-499A-95D0-3035AC3B3406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5E-499A-95D0-3035AC3B3406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5E-499A-95D0-3035AC3B34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M2/M3 LR (best)</c:v>
                </c:pt>
                <c:pt idx="1">
                  <c:v>M4 reg=1</c:v>
                </c:pt>
                <c:pt idx="2">
                  <c:v>M4 reg=10 (best)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0.95409999999999995</c:v>
                </c:pt>
                <c:pt idx="1">
                  <c:v>0.96330000000000005</c:v>
                </c:pt>
                <c:pt idx="2">
                  <c:v>0.97250000000000003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5E-499A-95D0-3035AC3B34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8"/>
          <c:min val="0.93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37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70C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365760"/>
            <a:ext cx="1463040" cy="1463040"/>
          </a:xfrm>
          <a:prstGeom prst="ellipse">
            <a:avLst/>
          </a:prstGeom>
          <a:solidFill>
            <a:srgbClr val="0070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486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Final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Triage Patient Classification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Azure Machine Learning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2514600"/>
            <a:ext cx="8412480" cy="0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Nghiep Pham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6032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[QS - K7] - Azure Data Scientist Associate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mlw-dp100-nghieppham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4944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494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611880"/>
            <a:ext cx="2011680" cy="1188720"/>
          </a:xfrm>
          <a:prstGeom prst="rect">
            <a:avLst/>
          </a:prstGeom>
          <a:solidFill>
            <a:srgbClr val="0070C0">
              <a:alpha val="4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576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6576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60320" y="3611880"/>
            <a:ext cx="2011680" cy="1188720"/>
          </a:xfrm>
          <a:prstGeom prst="rect">
            <a:avLst/>
          </a:prstGeom>
          <a:solidFill>
            <a:srgbClr val="0070C0">
              <a:alpha val="4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5603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256032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3611880"/>
            <a:ext cx="2011680" cy="1188720"/>
          </a:xfrm>
          <a:prstGeom prst="rect">
            <a:avLst/>
          </a:prstGeom>
          <a:solidFill>
            <a:srgbClr val="0070C0">
              <a:alpha val="4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548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97.25%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75488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49440" y="3611880"/>
            <a:ext cx="2011680" cy="1188720"/>
          </a:xfrm>
          <a:prstGeom prst="rect">
            <a:avLst/>
          </a:prstGeom>
          <a:solidFill>
            <a:srgbClr val="0070C0">
              <a:alpha val="4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494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94944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0070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509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087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ML pipeline on Azure ML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1168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" y="1984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ER patients: Fast-Track (0) or Regular (1)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1460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360" y="24871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full Azure ML lifecycle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1752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360" y="2990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AutoML vs. manual training approaches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2044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436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healthcare-critical metrics (Recall)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950976"/>
            <a:ext cx="347472" cy="34747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1208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475488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rooms face constant pressure to optimally allocate patients. A misclassification routing a severe patient to Fast-Track can be life-threatening.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4754880" y="2331720"/>
            <a:ext cx="4114800" cy="731520"/>
          </a:xfrm>
          <a:prstGeom prst="rect">
            <a:avLst/>
          </a:prstGeom>
          <a:solidFill>
            <a:srgbClr val="FFF3C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754880" y="2331720"/>
            <a:ext cx="73152" cy="7315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3" name="Text 14"/>
          <p:cNvSpPr/>
          <p:nvPr/>
        </p:nvSpPr>
        <p:spPr>
          <a:xfrm>
            <a:off x="4892040" y="2377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False Negative = Severe patient routed to Fast-Track = Clinically catastrophic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00400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47488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is slow and variable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57600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47488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is the primary optimization target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14800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47488" y="4096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provides auditable, scalable platform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1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46304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4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869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mlw-dp100-nghieppham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16733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US 2 | MSDN Subscription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743200" cy="1463040"/>
          </a:xfrm>
          <a:prstGeom prst="rect">
            <a:avLst/>
          </a:prstGeom>
          <a:solidFill>
            <a:srgbClr val="0070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914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8869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Instance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10128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qslearner03-aml-compute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16733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Standard_D11 | Development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868680"/>
            <a:ext cx="2743200" cy="1463040"/>
          </a:xfrm>
          <a:prstGeom prst="rect">
            <a:avLst/>
          </a:prstGeom>
          <a:solidFill>
            <a:srgbClr val="0098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914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8869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36208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qslearner03-aml-cluster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16733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Standard_D11 | min=0, max=2 nodes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418348"/>
            <a:ext cx="1828800" cy="365760"/>
          </a:xfrm>
          <a:prstGeom prst="rect">
            <a:avLst/>
          </a:prstGeom>
          <a:solidFill>
            <a:srgbClr val="0070C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4549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" y="241834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46888" y="2875548"/>
            <a:ext cx="3959352" cy="338328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23" name="Text 17"/>
          <p:cNvSpPr/>
          <p:nvPr/>
        </p:nvSpPr>
        <p:spPr>
          <a:xfrm>
            <a:off x="365760" y="29121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600200" y="29121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ER_Triage_Dataset.csv  (14.51 KB)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213876"/>
            <a:ext cx="39319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0"/>
          <p:cNvSpPr/>
          <p:nvPr/>
        </p:nvSpPr>
        <p:spPr>
          <a:xfrm>
            <a:off x="365760" y="32504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600200" y="32504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patients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74320" y="3552204"/>
            <a:ext cx="3931920" cy="320040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29" name="Text 23"/>
          <p:cNvSpPr/>
          <p:nvPr/>
        </p:nvSpPr>
        <p:spPr>
          <a:xfrm>
            <a:off x="365760" y="35887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600200" y="35887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clinical input features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4320" y="3890532"/>
            <a:ext cx="39319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365760" y="39271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600200" y="39271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Routing_Class: 0=Fast-Track, 1=Regular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74320" y="4228860"/>
            <a:ext cx="3931920" cy="320040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35" name="Text 29"/>
          <p:cNvSpPr/>
          <p:nvPr/>
        </p:nvSpPr>
        <p:spPr>
          <a:xfrm>
            <a:off x="365760" y="42654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MLTable (v1)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600200" y="42654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AutoML (M1)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74320" y="4567188"/>
            <a:ext cx="39319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2"/>
          <p:cNvSpPr/>
          <p:nvPr/>
        </p:nvSpPr>
        <p:spPr>
          <a:xfrm>
            <a:off x="365760" y="46037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uri_file (v1)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600200" y="46037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Command &amp; Sweep Jobs (M2–M4)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599432" y="2541872"/>
            <a:ext cx="4297680" cy="2286000"/>
          </a:xfrm>
          <a:prstGeom prst="rect">
            <a:avLst/>
          </a:prstGeom>
          <a:solidFill>
            <a:srgbClr val="F0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4572000" y="2514600"/>
            <a:ext cx="4297680" cy="3200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2" name="Text 36"/>
          <p:cNvSpPr/>
          <p:nvPr/>
        </p:nvSpPr>
        <p:spPr>
          <a:xfrm>
            <a:off x="4617720" y="25420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Data Asset Registration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4617720" y="30175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5" name="Text 3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32A1A9F-4295-734E-66EE-A9E7EC44D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099" y="2907792"/>
            <a:ext cx="2057777" cy="174787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19E1719-2B2C-9B31-F554-EB835ABE9E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615" y="2916936"/>
            <a:ext cx="2057777" cy="1734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AutoML Classification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0"/>
            <a:ext cx="822960" cy="7315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91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841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37360" y="841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ERTriage-AutoML-Classification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1161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1161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khaki_head_wblp2pftmw  ✅  Completed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1481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3736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 56.54s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1801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3736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| Compute: qslearner03-aml-cluster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630100"/>
            <a:ext cx="859536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292608" y="26575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" y="26575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26480" y="26575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6575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014148"/>
            <a:ext cx="859536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" y="305072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" y="30507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+ LightGBM  ⭐ Best Model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26480" y="30507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30507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361620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" y="33981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" y="33981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VotingEnsemble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26480" y="339819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98080" y="339819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27s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3709092"/>
            <a:ext cx="8595360" cy="329184"/>
          </a:xfrm>
          <a:prstGeom prst="rect">
            <a:avLst/>
          </a:prstGeom>
          <a:solidFill>
            <a:srgbClr val="F7FBFE"/>
          </a:solidFill>
          <a:ln/>
        </p:spPr>
      </p:sp>
      <p:sp>
        <p:nvSpPr>
          <p:cNvPr id="31" name="Text 28"/>
          <p:cNvSpPr/>
          <p:nvPr/>
        </p:nvSpPr>
        <p:spPr>
          <a:xfrm>
            <a:off x="292608" y="37456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58368" y="37456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StackEnsemble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26480" y="37456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98080" y="37456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4056564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292608" y="40931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8368" y="40931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+ XGBoostClassifier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126480" y="40931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498080" y="40931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4404036"/>
            <a:ext cx="8595360" cy="329184"/>
          </a:xfrm>
          <a:prstGeom prst="rect">
            <a:avLst/>
          </a:prstGeom>
          <a:solidFill>
            <a:srgbClr val="F7FBFE"/>
          </a:solidFill>
          <a:ln/>
        </p:spPr>
      </p:sp>
      <p:sp>
        <p:nvSpPr>
          <p:cNvPr id="41" name="Text 38"/>
          <p:cNvSpPr/>
          <p:nvPr/>
        </p:nvSpPr>
        <p:spPr>
          <a:xfrm>
            <a:off x="292608" y="444061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58368" y="44406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+ ExtremeRandomTrees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26480" y="44406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498080" y="44406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0" name="Text 4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E54A0EF-7B96-C21F-3A9C-80C3D77DCE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799"/>
          <a:stretch>
            <a:fillRect/>
          </a:stretch>
        </p:blipFill>
        <p:spPr>
          <a:xfrm>
            <a:off x="6408818" y="768095"/>
            <a:ext cx="2466073" cy="1639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&amp; 3 — Command Job + MLflow Tracking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0"/>
            <a:ext cx="822960" cy="7315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91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M2+M3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84124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ERTriage-training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Name: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18872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plum_nose_pxnd9blr2p  ✅  Completed  |  1m 39s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53619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|  reg_rate = 0.01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8836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188366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train-model-mlflow.py --training_data ER_Triage_Dataset.csv --reg_rate 0.01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1627632" cy="1188720"/>
          </a:xfrm>
          <a:prstGeom prst="rect">
            <a:avLst/>
          </a:prstGeom>
          <a:solidFill>
            <a:srgbClr val="0070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33172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93392" y="2240280"/>
            <a:ext cx="1627632" cy="118872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93392" y="233172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93392" y="2971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2464" y="2240280"/>
            <a:ext cx="1627632" cy="1188720"/>
          </a:xfrm>
          <a:prstGeom prst="rect">
            <a:avLst/>
          </a:prstGeom>
          <a:solidFill>
            <a:srgbClr val="0098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12464" y="233172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12464" y="2971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31536" y="2240280"/>
            <a:ext cx="1627632" cy="1188720"/>
          </a:xfrm>
          <a:prstGeom prst="rect">
            <a:avLst/>
          </a:prstGeom>
          <a:solidFill>
            <a:srgbClr val="70AD4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31536" y="233172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31536" y="2971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50608" y="2240280"/>
            <a:ext cx="1627632" cy="118872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0608" y="233172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50608" y="2971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54864" cy="54864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478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automatically logged all metrics to Azure ML Experiments, enabling visual comparison of ROC curves, confusion matrices, and per-run parameters in Studio.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D4EC67B-8E4B-53A8-C217-345D908BF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874" y="762642"/>
            <a:ext cx="1955533" cy="145802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8333A30-EED2-3DFF-1825-0A559036F3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649" b="51499"/>
          <a:stretch>
            <a:fillRect/>
          </a:stretch>
        </p:blipFill>
        <p:spPr>
          <a:xfrm>
            <a:off x="6033628" y="3520440"/>
            <a:ext cx="2698892" cy="1423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D38AFC06-4FEC-3911-06F5-8AA8F2A65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780" y="2212758"/>
            <a:ext cx="2407114" cy="212711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3AA98B8-438A-11D0-C0F5-E08359624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579" y="763521"/>
            <a:ext cx="2446421" cy="214600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8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Hyperparameter Sweep (Grid Search)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321040" y="0"/>
            <a:ext cx="822960" cy="7315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91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841248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sweet_bulb_bfhmsrsy4k  ✅  Completed  |  13m 27.91s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 |  reg_rate ∈ {0.001, 0.01, 0.1, 1, 10}  |  5 trials, concurrent=2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1536192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training_accuracy_score (maximize)  |  Best Trial: sweep_4 (reg_rate=10)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5394960" cy="347472"/>
          </a:xfrm>
          <a:prstGeom prst="rect">
            <a:avLst/>
          </a:prstGeom>
          <a:solidFill>
            <a:srgbClr val="0098D4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19476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19476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12848" y="1947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1947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24528" y="1947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5394960" cy="329184"/>
          </a:xfrm>
          <a:prstGeom prst="rect">
            <a:avLst/>
          </a:prstGeom>
          <a:solidFill>
            <a:srgbClr val="F7FBF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3500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sweep_0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" y="235000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12848" y="23500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18688" y="23500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24528" y="23500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53949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26974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sweep_1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" y="26974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12848" y="26974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26974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24528" y="2697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99232"/>
            <a:ext cx="5394960" cy="329184"/>
          </a:xfrm>
          <a:prstGeom prst="rect">
            <a:avLst/>
          </a:prstGeom>
          <a:solidFill>
            <a:srgbClr val="F7FBF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0449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sweep_2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" y="30449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12848" y="304495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04495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24528" y="3044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346704"/>
            <a:ext cx="53949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33924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sweep_3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" y="33924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12848" y="339242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18688" y="339242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24528" y="339242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694176"/>
            <a:ext cx="539496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1"/>
          <p:cNvSpPr/>
          <p:nvPr/>
        </p:nvSpPr>
        <p:spPr>
          <a:xfrm>
            <a:off x="292608" y="37398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sweep_4 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" y="373989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12848" y="37398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18688" y="37398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24528" y="37398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187952"/>
            <a:ext cx="5394960" cy="530352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4187952"/>
            <a:ext cx="54864" cy="530352"/>
          </a:xfrm>
          <a:prstGeom prst="rect">
            <a:avLst/>
          </a:prstGeom>
          <a:solidFill>
            <a:srgbClr val="0098D4"/>
          </a:solidFill>
          <a:ln/>
        </p:spPr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251960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685800" y="420624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insight: reg_rate=10 (sweep_4) achieves highest Recall (97.25%) — critical in ER to prevent severe patient misrouting.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1" name="Text 5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88855EB-42E8-7DC7-D604-317D70089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51" y="3218688"/>
            <a:ext cx="2184318" cy="1851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3429000"/>
          <a:ext cx="50292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868680"/>
            <a:ext cx="3291840" cy="685800"/>
          </a:xfrm>
          <a:prstGeom prst="rect">
            <a:avLst/>
          </a:prstGeom>
          <a:solidFill>
            <a:srgbClr val="70AD4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886968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9320" y="868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Milestones completed successfully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577840" y="1673352"/>
            <a:ext cx="3291840" cy="685800"/>
          </a:xfrm>
          <a:prstGeom prst="rect">
            <a:avLst/>
          </a:prstGeom>
          <a:solidFill>
            <a:srgbClr val="0070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691640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9320" y="1673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(LightGBM) = 92.8% accuracy — best overall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5577840" y="2478024"/>
            <a:ext cx="3291840" cy="68580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496312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89320" y="247802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M4 achieves 97.25% Recall — optimal for ER safety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5577840" y="3282696"/>
            <a:ext cx="3291840" cy="68580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300984"/>
            <a:ext cx="310896" cy="3108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89320" y="328269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provides full experiment traceability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5577840" y="4160520"/>
            <a:ext cx="3291840" cy="594360"/>
          </a:xfrm>
          <a:prstGeom prst="rect">
            <a:avLst/>
          </a:prstGeom>
          <a:solidFill>
            <a:srgbClr val="FFF3C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5577840" y="4160520"/>
            <a:ext cx="54864" cy="59436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4242816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61888" y="4178808"/>
            <a:ext cx="2880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Deploy AutoML LightGBM with tuned decision threshold to maximize Recall in production.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Learnings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 Faced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MLTable required both .csv + MLTable definition file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 cold start (2-3 min) on first job submission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MLflow context errors when evaluate_model() called outside run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Grid sweep ran all 5 trials even when early stopping helpful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Learnings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AutoML rapidly explores many algorithms in one run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MLflow + Azure ML = seamless zero-infra tracking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Sweep Jobs enable parallel hyperparameter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Healthcare ML: Recall &gt; Accuracy for model selection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versioning ensures experiment reproducibility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347472"/>
          </a:xfrm>
          <a:prstGeom prst="rect">
            <a:avLst/>
          </a:prstGeom>
          <a:solidFill>
            <a:srgbClr val="0070C0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10712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3383280"/>
            <a:ext cx="8183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1304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" y="3794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LightGBM as Real-Time Endpoint in Azure ML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315968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" y="4297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 drift monitoring with Azure ML Model Monitor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1304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28032" y="3794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Bayesian optimization for more efficient hyperparameter search</a:t>
            </a:r>
            <a:endParaRPr lang="en-US" sz="10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1596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28032" y="4297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multi-class: Fast-Track / Regular / Critical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 Project  |  Nghiep Pham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365760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Triage Patient Classification — Azure 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828800" cy="731520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Milestones Complete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1828800" cy="731520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 Best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1828800" cy="731520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97.25% Peak 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606040"/>
            <a:ext cx="1828800" cy="731520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MLflow Tracking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Nghiep Pham  |  qslearner03  |  DP-100 Designing a Data Science Solution on Azure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Workspace: mlw-dp100-nghieppham  |  Subscription: MSDN Platforms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859</Words>
  <Application>Microsoft Office PowerPoint</Application>
  <PresentationFormat>On-screen Show (16:9)</PresentationFormat>
  <Paragraphs>203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Triage Patient Classification — DP-100 Final Project</dc:title>
  <dc:subject>PptxGenJS Presentation</dc:subject>
  <dc:creator>Nghiep Pham</dc:creator>
  <cp:lastModifiedBy>Nghiep PhamQuoc</cp:lastModifiedBy>
  <cp:revision>2</cp:revision>
  <dcterms:created xsi:type="dcterms:W3CDTF">2026-05-16T10:30:38Z</dcterms:created>
  <dcterms:modified xsi:type="dcterms:W3CDTF">2026-05-16T11:26:30Z</dcterms:modified>
</cp:coreProperties>
</file>